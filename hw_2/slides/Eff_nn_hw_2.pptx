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05" d="100"/>
          <a:sy n="105" d="100"/>
        </p:scale>
        <p:origin x="76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64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Статья Apple с ICLR 2025: как посчитать cross-entropy для LLM с большим словарём, не храня матрицу логитов.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Почти всё, что ест память при обучении, уже оптимизировали. Последний слой с cross-entropy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каждого токена считаем логит каждого слова словаря — матрица A размера |V| на N лежит в памяти целиком. У Gemma 2 2B это около 90% памяти при обучении.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последовательность на 80 тысяч токенов — и логиты Gemma 2 2B занимают всю H100.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из статьи. Слева обычная CE: у многих моделей логиты занимают больше половины памяти. Справа CCE: зелёный сектор исчезает, batch у Gemma 2 2B растёт в 10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Лосс раскладывается на две части: логит правильного токена и log-sum-exp по словарю. Первое — дешёвый gather, второе считаем блоками в SRAM.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Иерархия памяти GPU: чем ближе к вычислительным блокам, тем быстрее и меньше.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Градиент разности: первая часть — дешёвый gather, вторая — через softmax. Выписываем производную LSE по логиту и получаем S = exp(логит − LSE).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Your Losses in Large-Vocabulary Language Models · ICLR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3/img/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220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kern="0" spc="200" dirty="0">
                <a:solidFill>
                  <a:srgbClr val="E7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· APPLE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Your Losses in Large-Vocabulary Language Models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9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Wijmans, Brody Huval, Alexander Hertzberg, Vladlen Koltun, Philipp Krähenbühl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234440" cy="12344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/root/d3/img/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965192"/>
            <a:ext cx="1088136" cy="10972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57400" y="5349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на arXiv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2411.09009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и память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РЕШИЛИ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638044" cy="36576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и оптимизаторы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0" y="2322576"/>
            <a:ext cx="731520" cy="0"/>
          </a:xfrm>
          <a:prstGeom prst="line">
            <a:avLst/>
          </a:prstGeom>
          <a:noFill/>
          <a:ln w="19050">
            <a:solidFill>
              <a:srgbClr val="6B6B70"/>
            </a:solidFill>
            <a:prstDash val="solid"/>
            <a:tailEnd type="triangle"/>
          </a:ln>
        </p:spPr>
      </p:sp>
      <p:pic>
        <p:nvPicPr>
          <p:cNvPr id="7" name="Image 0" descr="/root/d3/img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84832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4924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FSDP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шардирование состояния по GPU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91840"/>
            <a:ext cx="2884932" cy="36576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Квадратичный контекст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840480" y="3511296"/>
            <a:ext cx="731520" cy="0"/>
          </a:xfrm>
          <a:prstGeom prst="line">
            <a:avLst/>
          </a:prstGeom>
          <a:noFill/>
          <a:ln w="19050">
            <a:solidFill>
              <a:srgbClr val="6B6B70"/>
            </a:solidFill>
            <a:prstDash val="solid"/>
            <a:tailEnd type="triangle"/>
          </a:ln>
        </p:spPr>
      </p:sp>
      <p:pic>
        <p:nvPicPr>
          <p:cNvPr id="11" name="Image 1" descr="/root/d3/img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7355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3246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 блоками в SRAM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480560"/>
            <a:ext cx="1403604" cy="36576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Активации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840480" y="4700016"/>
            <a:ext cx="731520" cy="0"/>
          </a:xfrm>
          <a:prstGeom prst="line">
            <a:avLst/>
          </a:prstGeom>
          <a:noFill/>
          <a:ln w="19050">
            <a:solidFill>
              <a:srgbClr val="6B6B70"/>
            </a:solidFill>
            <a:prstDash val="solid"/>
            <a:tailEnd type="triangle"/>
          </a:ln>
        </p:spPr>
      </p:sp>
      <p:pic>
        <p:nvPicPr>
          <p:cNvPr id="15" name="Image 2" descr="/root/d3/img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46227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4434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checkpointing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вместо хранения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503920" y="1645920"/>
            <a:ext cx="0" cy="4297680"/>
          </a:xfrm>
          <a:prstGeom prst="line">
            <a:avLst/>
          </a:prstGeom>
          <a:noFill/>
          <a:ln w="12700">
            <a:solidFill>
              <a:srgbClr val="D9D9D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9154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 БЫЛО РЕШИТЬ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915400" y="2103120"/>
            <a:ext cx="2514600" cy="365760"/>
          </a:xfrm>
          <a:prstGeom prst="rect">
            <a:avLst/>
          </a:prstGeom>
          <a:solidFill>
            <a:srgbClr val="B14434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800" dirty="0"/>
          </a:p>
        </p:txBody>
      </p:sp>
      <p:pic>
        <p:nvPicPr>
          <p:cNvPr id="20" name="Image 3" descr="/root/d3/img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880360"/>
            <a:ext cx="2011680" cy="16662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15400" y="4709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Логиты N × |V| целиком лежат в памяти — и на forward, и на backward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2</a:t>
            </a:fld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 классической Cross-Entropy</a:t>
            </a:r>
            <a:endParaRPr lang="en-US" sz="3000" dirty="0"/>
          </a:p>
        </p:txBody>
      </p:sp>
      <p:pic>
        <p:nvPicPr>
          <p:cNvPr id="4" name="Image 0" descr="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55064"/>
            <a:ext cx="180109" cy="142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9848" y="1618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количество токенов в батче</a:t>
            </a:r>
            <a:endParaRPr lang="en-US" sz="1700" dirty="0"/>
          </a:p>
        </p:txBody>
      </p:sp>
      <p:pic>
        <p:nvPicPr>
          <p:cNvPr id="6" name="Image 1" descr="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171295" cy="142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69848" y="2020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размерность эмбеддинга</a:t>
            </a:r>
            <a:endParaRPr lang="en-US" sz="1700" dirty="0"/>
          </a:p>
        </p:txBody>
      </p:sp>
      <p:pic>
        <p:nvPicPr>
          <p:cNvPr id="8" name="Image 2" descr="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59736"/>
            <a:ext cx="263091" cy="20041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69848" y="24231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размер словаря токенизатора</a:t>
            </a:r>
            <a:endParaRPr lang="en-US" sz="1700" dirty="0"/>
          </a:p>
        </p:txBody>
      </p:sp>
      <p:pic>
        <p:nvPicPr>
          <p:cNvPr id="10" name="Image 3" descr="Ede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07208"/>
            <a:ext cx="831254" cy="187717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81062" y="28254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матрица эмбеддингов</a:t>
            </a:r>
            <a:endParaRPr lang="en-US" sz="1700" dirty="0"/>
          </a:p>
        </p:txBody>
      </p:sp>
      <p:pic>
        <p:nvPicPr>
          <p:cNvPr id="12" name="Image 4" descr="Cde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09544"/>
            <a:ext cx="902833" cy="196221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652641" y="32278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веса классификатора</a:t>
            </a:r>
            <a:endParaRPr lang="en-US" sz="1700" dirty="0"/>
          </a:p>
        </p:txBody>
      </p:sp>
      <p:pic>
        <p:nvPicPr>
          <p:cNvPr id="14" name="Image 5" descr="Ade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49040"/>
            <a:ext cx="1786659" cy="23165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2609619" y="3931920"/>
            <a:ext cx="5299941" cy="0"/>
          </a:xfrm>
          <a:prstGeom prst="line">
            <a:avLst/>
          </a:prstGeom>
          <a:noFill/>
          <a:ln w="22225">
            <a:solidFill>
              <a:srgbClr val="B14434"/>
            </a:solidFill>
            <a:prstDash val="solid"/>
            <a:tailEnd type="triangle"/>
          </a:ln>
        </p:spPr>
      </p:sp>
      <p:sp>
        <p:nvSpPr>
          <p:cNvPr id="16" name="Text 8"/>
          <p:cNvSpPr txBox="1"/>
          <p:nvPr/>
        </p:nvSpPr>
        <p:spPr>
          <a:xfrm>
            <a:off x="2701059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kern="0" spc="1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МАТЕРИАЛИЗУЕТСЯ В ПАМЯТИ</a:t>
            </a:r>
            <a:endParaRPr lang="en-US" sz="1100" dirty="0"/>
          </a:p>
        </p:txBody>
      </p:sp>
      <p:pic>
        <p:nvPicPr>
          <p:cNvPr id="17" name="Image 6" descr="Pdef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1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" y="4251960"/>
            <a:ext cx="2947587" cy="50317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3861987" y="4434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вероятность, что следующий токен для n-</a:t>
            </a:r>
            <a:r>
              <a:rPr lang="en-US" sz="1400" dirty="0" err="1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</a:t>
            </a: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это</a:t>
            </a: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j-й элемент словаря</a:t>
            </a:r>
            <a:endParaRPr lang="en-US" sz="1400" dirty="0"/>
          </a:p>
        </p:txBody>
      </p:sp>
      <p:pic>
        <p:nvPicPr>
          <p:cNvPr id="19" name="Image 7" descr="lde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5257800"/>
            <a:ext cx="2665723" cy="503176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3580123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 правильного токена xₙ</a:t>
            </a:r>
            <a:endParaRPr lang="en-US" sz="1400" dirty="0"/>
          </a:p>
        </p:txBody>
      </p:sp>
      <p:pic>
        <p:nvPicPr>
          <p:cNvPr id="21" name="Image 8" descr="/root/d3/img/ra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1417" y="1554480"/>
            <a:ext cx="3127455" cy="452628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8311689" y="1874520"/>
            <a:ext cx="0" cy="2806294"/>
          </a:xfrm>
          <a:prstGeom prst="line">
            <a:avLst/>
          </a:prstGeom>
          <a:noFill/>
          <a:ln w="12700">
            <a:solidFill>
              <a:srgbClr val="1B1B1F"/>
            </a:solidFill>
            <a:prstDash val="solid"/>
          </a:ln>
        </p:spPr>
      </p:sp>
      <p:sp>
        <p:nvSpPr>
          <p:cNvPr id="23" name="Shape 12"/>
          <p:cNvSpPr/>
          <p:nvPr/>
        </p:nvSpPr>
        <p:spPr>
          <a:xfrm>
            <a:off x="8311689" y="4790542"/>
            <a:ext cx="0" cy="1131570"/>
          </a:xfrm>
          <a:prstGeom prst="line">
            <a:avLst/>
          </a:prstGeom>
          <a:noFill/>
          <a:ln w="12700">
            <a:solidFill>
              <a:srgbClr val="6B6B70"/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6821217" y="25603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3400" dirty="0">
                <a:solidFill>
                  <a:srgbClr val="B1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180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логиты loss-слоя</a:t>
            </a:r>
            <a:endParaRPr lang="en-US" sz="1800" dirty="0"/>
          </a:p>
        </p:txBody>
      </p:sp>
      <p:sp>
        <p:nvSpPr>
          <p:cNvPr id="25" name="Text 14"/>
          <p:cNvSpPr txBox="1"/>
          <p:nvPr/>
        </p:nvSpPr>
        <p:spPr>
          <a:xfrm>
            <a:off x="6821217" y="484632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2600" dirty="0">
                <a:solidFill>
                  <a:srgbClr val="6B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веса, оптимизатор, активации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3</a:t>
            </a:fld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dirty="0">
                <a:solidFill>
                  <a:schemeClr val="accent1"/>
                </a:solidFill>
              </a:rPr>
              <a:t>Пример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609344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 (2B)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627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последовательность длиной 80 000 токенов, логиты в fp32</a:t>
            </a:r>
            <a:endParaRPr lang="en-US" sz="1700" dirty="0"/>
          </a:p>
        </p:txBody>
      </p:sp>
      <p:pic>
        <p:nvPicPr>
          <p:cNvPr id="6" name="Image 0" descr="gem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884" y="2331720"/>
            <a:ext cx="6951183" cy="8030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4526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H100</a:t>
            </a:r>
            <a:endParaRPr lang="en-US" sz="180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GB</a:t>
            </a:r>
            <a:endParaRPr lang="en-US" sz="1800" dirty="0"/>
          </a:p>
        </p:txBody>
      </p:sp>
      <p:pic>
        <p:nvPicPr>
          <p:cNvPr id="8" name="Image 1" descr="/root/d3/img/h1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794760"/>
            <a:ext cx="3566160" cy="23251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flipH="1">
            <a:off x="8001000" y="4206240"/>
            <a:ext cx="1325880" cy="411480"/>
          </a:xfrm>
          <a:prstGeom prst="line">
            <a:avLst/>
          </a:prstGeom>
          <a:noFill/>
          <a:ln w="28575">
            <a:solidFill>
              <a:srgbClr val="B14434"/>
            </a:solidFill>
            <a:prstDash val="solid"/>
            <a:tailEnd type="triangle"/>
          </a:ln>
        </p:spPr>
      </p:sp>
      <p:sp>
        <p:nvSpPr>
          <p:cNvPr id="10" name="Text 6"/>
          <p:cNvSpPr txBox="1"/>
          <p:nvPr/>
        </p:nvSpPr>
        <p:spPr>
          <a:xfrm>
            <a:off x="886968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Уничтожена одним слоем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55513-CA76-8A6C-6A50-DBDEE4417698}"/>
              </a:ext>
            </a:extLst>
          </p:cNvPr>
          <p:cNvSpPr txBox="1"/>
          <p:nvPr/>
        </p:nvSpPr>
        <p:spPr>
          <a:xfrm>
            <a:off x="6483095" y="4917850"/>
            <a:ext cx="190652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dirty="0">
                <a:effectLst/>
                <a:latin typeface="Helvetica Neue" panose="02000503000000020004" pitchFamily="2" charset="0"/>
              </a:rPr>
              <a:t>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000" dirty="0"/>
              <a:t>Наглядный результат</a:t>
            </a:r>
            <a:endParaRPr lang="en-US" sz="3000" dirty="0"/>
          </a:p>
        </p:txBody>
      </p:sp>
      <p:pic>
        <p:nvPicPr>
          <p:cNvPr id="4" name="Image 0" descr="/root/d3/img/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10908792" cy="39290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481328"/>
            <a:ext cx="2452878" cy="304800"/>
          </a:xfrm>
          <a:prstGeom prst="rect">
            <a:avLst/>
          </a:prstGeom>
          <a:solidFill>
            <a:srgbClr val="B14434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Cross-Entropy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0445" y="1481328"/>
            <a:ext cx="2041398" cy="30480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Cross-Entropy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04702"/>
            <a:ext cx="10908792" cy="65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2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Зелёное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память под логиты. По оси X — максимальный batch на 16 GPU. С CCE </a:t>
            </a:r>
            <a:r>
              <a:rPr lang="ru-RU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получается в несколько раз увеличить размер </a:t>
            </a:r>
            <a:r>
              <a:rPr lang="ru-RU" sz="16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батча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Идея</a:t>
            </a: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Cut Cross-Entropy (CCE)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не записывать полную матрицу логитов A в глобальную </a:t>
            </a:r>
            <a:r>
              <a:rPr lang="en-US" sz="2000" b="1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</a:t>
            </a: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b="1" dirty="0">
                <a:solidFill>
                  <a:srgbClr val="437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pic>
        <p:nvPicPr>
          <p:cNvPr id="5" name="Image 0" descr="id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352" y="2194560"/>
            <a:ext cx="2962247" cy="808681"/>
          </a:xfrm>
          <a:prstGeom prst="rect">
            <a:avLst/>
          </a:prstGeom>
        </p:spPr>
      </p:pic>
      <p:pic>
        <p:nvPicPr>
          <p:cNvPr id="6" name="Image 1" descr="spl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170" y="3063240"/>
            <a:ext cx="4712612" cy="8735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4348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7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слагаемое (CᵀE)ₓ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 только правильного токена: скалярное произведение эмбеддинга Eₙ и строки весов C для xₙ. На выходе — вектор длины N, а не матрица N × |V|.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4"/>
              <p:cNvSpPr txBox="1"/>
              <p:nvPr/>
            </p:nvSpPr>
            <p:spPr>
              <a:xfrm>
                <a:off x="6428232" y="4434840"/>
                <a:ext cx="5120640" cy="1554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900" b="1" dirty="0">
                    <a:solidFill>
                      <a:srgbClr val="B1443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Второе слагаемое LSE(CᵀE)</a:t>
                </a:r>
                <a:endParaRPr lang="en-US" sz="1700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700" dirty="0">
                    <a:solidFill>
                      <a:srgbClr val="1B1B1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Знаменатель softmax: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1" dirty="0" smtClean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log</m:t>
                    </m:r>
                    <m:r>
                      <a:rPr lang="en-US" sz="1700" i="1" dirty="0" smtClean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</m:t>
                    </m:r>
                    <m:r>
                      <m:rPr>
                        <m:sty m:val="p"/>
                      </m:rPr>
                      <a:rPr lang="en-US" sz="1700" i="0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Σ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ⱼ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exp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⁡(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𝐶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ⱼ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ᵀ 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𝐸</m:t>
                    </m:r>
                    <m:r>
                      <a:rPr lang="en-US" sz="1700" i="1" dirty="0">
                        <a:solidFill>
                          <a:srgbClr val="1B1B1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ₙ)</m:t>
                    </m:r>
                  </m:oMath>
                </a14:m>
                <a:r>
                  <a:rPr lang="en-US" sz="1700" dirty="0">
                    <a:solidFill>
                      <a:srgbClr val="1B1B1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CCE считает его блоками в быстрой SRAM и никогда не пишет логиты в HBM.</a:t>
                </a:r>
                <a:endParaRPr lang="en-US" sz="1700" dirty="0"/>
              </a:p>
            </p:txBody>
          </p:sp>
        </mc:Choice>
        <mc:Fallback>
          <p:sp>
            <p:nvSpPr>
              <p:cNvPr id="8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232" y="4434840"/>
                <a:ext cx="5120640" cy="1554480"/>
              </a:xfrm>
              <a:prstGeom prst="rect">
                <a:avLst/>
              </a:prstGeom>
              <a:blipFill>
                <a:blip r:embed="rId5"/>
                <a:stretch>
                  <a:fillRect l="-2970" t="-4878" r="-3465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</a:t>
            </a: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SRAM</a:t>
            </a: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7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и очень быстрая память прямо на чипе — KB–MB на каждый SM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437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/ DRAM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большая, но медленная глобальная память GPU — те самые 80 GB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CCE, как и FlashAttention, держит блок логитов только в SRAM: посчитали, свернули, выбросили.</a:t>
            </a:r>
            <a:endParaRPr lang="en-US" sz="1700" dirty="0"/>
          </a:p>
        </p:txBody>
      </p:sp>
      <p:pic>
        <p:nvPicPr>
          <p:cNvPr id="5" name="Image 0" descr="/root/d3/img/s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45920"/>
            <a:ext cx="6839712" cy="3654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Алгоритм 1 </a:t>
            </a:r>
            <a:r>
              <a:rPr lang="ru-RU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расчёт (CᵀE)ₓ, forward</a:t>
            </a:r>
            <a:endParaRPr lang="en-US" sz="3000" dirty="0"/>
          </a:p>
        </p:txBody>
      </p:sp>
      <p:pic>
        <p:nvPicPr>
          <p:cNvPr id="4" name="Image 0" descr="/root/d3/img/al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6583680" cy="2612824"/>
          </a:xfrm>
          <a:prstGeom prst="rect">
            <a:avLst/>
          </a:prstGeom>
        </p:spPr>
      </p:pic>
      <p:pic>
        <p:nvPicPr>
          <p:cNvPr id="5" name="Image 1" descr="id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33064"/>
            <a:ext cx="1940471" cy="34192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50817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 правильного токена = одно скалярное произведение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635240" y="1600200"/>
            <a:ext cx="39136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kern="0" spc="1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посчитать числитель softmax только для правильных токенов.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kern="0" spc="1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Triton-ядро объединяет индексацию и скалярное произведение: читает индекс xₙ, загружает из HBM в SRAM только строку C для xₙ и вектор Eₙ, перемножает и сразу пишет результат.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kern="0" spc="1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|V|)  →  O(N)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Алгоритм 2</a:t>
            </a: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ru-RU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расчёт LSE(CᵀE), forward</a:t>
            </a:r>
            <a:endParaRPr lang="en-US" sz="3000" dirty="0"/>
          </a:p>
        </p:txBody>
      </p:sp>
      <p:pic>
        <p:nvPicPr>
          <p:cNvPr id="4" name="Image 0" descr="/root/d3/img/al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6583680" cy="2861056"/>
          </a:xfrm>
          <a:prstGeom prst="rect">
            <a:avLst/>
          </a:prstGeom>
        </p:spPr>
      </p:pic>
      <p:pic>
        <p:nvPicPr>
          <p:cNvPr id="5" name="Image 1" descr="logad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81296"/>
            <a:ext cx="2800926" cy="3224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5329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частичные LSE сливаются атомарно (spin-lock)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635240" y="1600200"/>
            <a:ext cx="391363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kern="0" spc="1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 знаменатель softmax, не сохраняя матрицу логитов.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kern="0" spc="100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и C режутся на небольшие блоки (тайлы)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CUDA-блоки параллельно считают Aₙᵥ = Cᵥᵀ Eₙ в SRAM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 же — локальный LSEₙᵥ с вычитанием максимума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LSEₙᵥ атомарно сливаются в общий вектор LSEₙ в HBM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Backward: </a:t>
            </a:r>
            <a:r>
              <a:rPr lang="ru-RU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понимание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600" dirty="0">
                <a:solidFill>
                  <a:srgbClr val="B1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pic>
        <p:nvPicPr>
          <p:cNvPr id="5" name="Image 0" descr="loss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27632"/>
            <a:ext cx="2731757" cy="3158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40517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7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(CᵀE)ₓ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дешёвый indexed matmul backward.   </a:t>
            </a:r>
            <a:r>
              <a:rPr lang="en-US" sz="1700" b="1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вот тут уже тяжело.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600" dirty="0">
                <a:solidFill>
                  <a:srgbClr val="B1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pic>
        <p:nvPicPr>
          <p:cNvPr id="8" name="Image 1" descr="l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95728"/>
            <a:ext cx="4782984" cy="4639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600" dirty="0">
                <a:solidFill>
                  <a:srgbClr val="B1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pic>
        <p:nvPicPr>
          <p:cNvPr id="10" name="Image 2" descr="l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246120"/>
            <a:ext cx="2732895" cy="74698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41655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конкретного токена n; (CᵀE)ⱼ,ₙ = Cⱼᵀ Eₙ — логит j-го слова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434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600" dirty="0">
                <a:solidFill>
                  <a:srgbClr val="B14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pic>
        <p:nvPicPr>
          <p:cNvPr id="13" name="Image 3" descr="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389120"/>
            <a:ext cx="5744362" cy="59160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Производная LSE по </a:t>
            </a:r>
            <a:r>
              <a:rPr lang="en-US" sz="17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логиту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softmax. Назовём её S: её и придётся пересчитывать поблочно.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10</a:t>
            </a:fld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Алгоритм 3 </a:t>
            </a:r>
            <a:r>
              <a:rPr lang="ru-RU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backward</a:t>
            </a:r>
            <a:endParaRPr lang="en-US" sz="3000" dirty="0"/>
          </a:p>
        </p:txBody>
      </p:sp>
      <p:pic>
        <p:nvPicPr>
          <p:cNvPr id="4" name="Image 0" descr="g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4374242" cy="268472"/>
          </a:xfrm>
          <a:prstGeom prst="rect">
            <a:avLst/>
          </a:prstGeom>
        </p:spPr>
      </p:pic>
      <p:pic>
        <p:nvPicPr>
          <p:cNvPr id="5" name="Image 1" descr="/root/d3/img/al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48840"/>
            <a:ext cx="6309360" cy="38010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69480" y="1600200"/>
            <a:ext cx="42793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7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filtering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bf16 у мантиссы 7 бит: всё, что меньше ε = 2⁻¹² ≈ 0.000244, при сложении зануляется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очень разреженный: ненулевых меньше 0.02%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весь блок Sₙᵥ &lt; ε, ядро его </a:t>
            </a:r>
            <a:r>
              <a:rPr lang="en-US" sz="16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пропускает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backward ≈ в 3.5 раза быстрее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7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sorting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forward токены сортируются по среднему </a:t>
            </a:r>
            <a:r>
              <a:rPr lang="en-US" sz="16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логиту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значимые собираются в одних блоках, пустые с пустыми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можно пропускать блоки</a:t>
            </a:r>
            <a:endParaRPr lang="en-US" sz="3000" dirty="0"/>
          </a:p>
        </p:txBody>
      </p:sp>
      <p:pic>
        <p:nvPicPr>
          <p:cNvPr id="4" name="Image 0" descr="/root/d3/img/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394960" cy="3894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1691640"/>
            <a:ext cx="4965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 тают очень быстро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вероятность i-го по рангу токена. Уже к ~50-му p &lt; 2⁻¹² </a:t>
            </a: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ниже точности bf16, такой вклад всё равно потеряется при сложении.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0" y="3520440"/>
            <a:ext cx="4965192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3749040"/>
            <a:ext cx="4965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Абляция, Table 1 (Gemma 2 2B)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100 </a:t>
            </a:r>
            <a:r>
              <a:rPr lang="en-US" sz="17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700" b="1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 мс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фильтрации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100 </a:t>
            </a:r>
            <a:r>
              <a:rPr lang="en-US" sz="17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en-US" sz="1700" b="1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мс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</a:t>
            </a:r>
            <a:r>
              <a:rPr lang="en-US" sz="17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сортировки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словаря</a:t>
            </a:r>
            <a:endParaRPr lang="en-US" sz="1700" dirty="0">
              <a:solidFill>
                <a:srgbClr val="1B1B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12</a:t>
            </a:fld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Реализации CCE в apple/ml-cross-entropy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блоков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gradient filtering из Алгоритма 3. Варианты отличаются тем, для какого градиента он включён и в какой точности копятся градиенты.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234086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реализация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пропуск в ∇E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пропуск в ∇C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накопление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cce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умолчанию, fine-tuning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cce_kahan_full_c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14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/ Kahan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cce_kahan_full_e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14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/ Kahan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абляция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cce_exact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14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14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/ Kahan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эталон, проверка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torch_compile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Triton (macOS, CPU)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13</a:t>
            </a:fld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dirty="0"/>
              <a:t>Другие концепции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170432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755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логиты целиком + upcast в fp32 (HF, TorchTune по умолчанию)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75564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|V|)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908792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96312"/>
            <a:ext cx="1719072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torch.compile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60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фьюзит softmax и CE, но логиты всё равно в HBM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509760" y="256032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|V|)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136392"/>
            <a:ext cx="10908792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00984"/>
            <a:ext cx="2157984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TorchTune chunked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3649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режет токены на 8 чанков + compile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336499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|V| / k)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10908792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105656"/>
            <a:ext cx="1609344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 Kernel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1696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чанки, loss и градиент считаются за один проход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4169664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· D)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908792" cy="0"/>
          </a:xfrm>
          <a:prstGeom prst="line">
            <a:avLst/>
          </a:prstGeom>
          <a:noFill/>
          <a:ln w="9525">
            <a:solidFill>
              <a:srgbClr val="D9D9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910328"/>
            <a:ext cx="621792" cy="325120"/>
          </a:xfrm>
          <a:prstGeom prst="rect">
            <a:avLst/>
          </a:prstGeom>
          <a:solidFill>
            <a:srgbClr val="B14434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49743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в SRAM, recompute в backward, фильтрация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4974336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14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|V|)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14</a:t>
            </a:fld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Результаты: Gemma 2 (2B), 8 192 токена</a:t>
            </a:r>
            <a:endParaRPr lang="en-US" sz="3000" dirty="0"/>
          </a:p>
        </p:txBody>
      </p:sp>
      <p:pic>
        <p:nvPicPr>
          <p:cNvPr id="4" name="Image 0" descr="/root/d3/img/tabl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463040"/>
            <a:ext cx="9692640" cy="40277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15</a:t>
            </a:fld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000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Сохранение стабильности обучения</a:t>
            </a:r>
            <a:endParaRPr lang="en-US" sz="3000" dirty="0"/>
          </a:p>
        </p:txBody>
      </p:sp>
      <p:pic>
        <p:nvPicPr>
          <p:cNvPr id="4" name="Image 0" descr="/root/d3/img/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766560" cy="36088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737360"/>
            <a:ext cx="1499616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24028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модели на Alpaca, 5 сидов: кривые CCE и torch.compile совпадают.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291840"/>
            <a:ext cx="1499616" cy="325120"/>
          </a:xfrm>
          <a:prstGeom prst="rect">
            <a:avLst/>
          </a:prstGeom>
          <a:solidFill>
            <a:srgbClr val="1B1B1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794760"/>
            <a:ext cx="3776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CCE теряет в perplexity: фильтрация ∇C и накопление в bf16.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CCE-Kahan-FullC</a:t>
            </a:r>
            <a:r>
              <a:rPr lang="en-US" sz="17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совпадает с torch.compile.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9A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/>
              <a:t>16</a:t>
            </a:fld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0350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E7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Память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8379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loss + gradient: 28 ГБ → 1.16 ГБ — нижняя граница (только ∇E и ∇C)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10908792" cy="0"/>
          </a:xfrm>
          <a:prstGeom prst="line">
            <a:avLst/>
          </a:prstGeom>
          <a:noFill/>
          <a:ln w="9525">
            <a:solidFill>
              <a:srgbClr val="3A3A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807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E7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8620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torch.compile; выигрыш меньше, когда |V| / D маленькое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557016"/>
            <a:ext cx="10908792" cy="0"/>
          </a:xfrm>
          <a:prstGeom prst="line">
            <a:avLst/>
          </a:prstGeom>
          <a:noFill/>
          <a:ln w="9525">
            <a:solidFill>
              <a:srgbClr val="3A3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8313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E7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Точность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8862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без потерь; для pretraining нужен Kahan-FullC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4581144"/>
            <a:ext cx="10908792" cy="0"/>
          </a:xfrm>
          <a:prstGeom prst="line">
            <a:avLst/>
          </a:prstGeom>
          <a:noFill/>
          <a:ln w="9525">
            <a:solidFill>
              <a:srgbClr val="3A3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8554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E7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Применение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9103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функция вместо головы + CE, уже в Unsloth и Axolotl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sz="1600" b="0">
                <a:solidFill>
                  <a:schemeClr val="tx1"/>
                </a:solidFill>
              </a:rPr>
              <a:t>17</a:t>
            </a:fld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CE talk">
  <a:themeElements>
    <a:clrScheme name="CCE talk">
      <a:dk1>
        <a:srgbClr val="1B1B1F"/>
      </a:dk1>
      <a:lt1>
        <a:srgbClr val="FFFFFF"/>
      </a:lt1>
      <a:dk2>
        <a:srgbClr val="26262B"/>
      </a:dk2>
      <a:lt2>
        <a:srgbClr val="F3F3F4"/>
      </a:lt2>
      <a:accent1>
        <a:srgbClr val="B14434"/>
      </a:accent1>
      <a:accent2>
        <a:srgbClr val="E7A03C"/>
      </a:accent2>
      <a:accent3>
        <a:srgbClr val="437EB4"/>
      </a:accent3>
      <a:accent4>
        <a:srgbClr val="6B6B70"/>
      </a:accent4>
      <a:accent5>
        <a:srgbClr val="2E9E4F"/>
      </a:accent5>
      <a:accent6>
        <a:srgbClr val="D9D9DC"/>
      </a:accent6>
      <a:hlink>
        <a:srgbClr val="437EB4"/>
      </a:hlink>
      <a:folHlink>
        <a:srgbClr val="6D4C9F"/>
      </a:folHlink>
    </a:clrScheme>
    <a:fontScheme name="CCE tal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1208</Words>
  <Application>Microsoft Macintosh PowerPoint</Application>
  <PresentationFormat>Широкоэкранный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Georgia</vt:lpstr>
      <vt:lpstr>Helvetica Neue</vt:lpstr>
      <vt:lpstr>CCE talk</vt:lpstr>
      <vt:lpstr>Презентация PowerPoint</vt:lpstr>
      <vt:lpstr>LLM и память</vt:lpstr>
      <vt:lpstr>Проблема классической Cross-Entropy</vt:lpstr>
      <vt:lpstr>Пример</vt:lpstr>
      <vt:lpstr>Наглядный результат</vt:lpstr>
      <vt:lpstr>Идея Cut Cross-Entropy (CCE)</vt:lpstr>
      <vt:lpstr>Who is SRAM?</vt:lpstr>
      <vt:lpstr>Алгоритм 1 – расчёт (CᵀE)ₓ, forward</vt:lpstr>
      <vt:lpstr>Алгоритм 2 – расчёт LSE(CᵀE), forward</vt:lpstr>
      <vt:lpstr>Backward: понимание</vt:lpstr>
      <vt:lpstr>Алгоритм 3 – backward</vt:lpstr>
      <vt:lpstr>Почему можно пропускать блоки</vt:lpstr>
      <vt:lpstr>Реализации CCE в apple/ml-cross-entropy</vt:lpstr>
      <vt:lpstr>Другие концепции</vt:lpstr>
      <vt:lpstr>Результаты: Gemma 2 (2B), 8 192 токена</vt:lpstr>
      <vt:lpstr>Сохранение стабильности обучения</vt:lpstr>
      <vt:lpstr>Выводы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 Your Losses in Large-Vocabulary Language Models</dc:title>
  <dc:subject>PptxGenJS Presentation</dc:subject>
  <dc:creator>PptxGenJS</dc:creator>
  <cp:lastModifiedBy>German Edelkin</cp:lastModifiedBy>
  <cp:revision>9</cp:revision>
  <dcterms:created xsi:type="dcterms:W3CDTF">2026-10-09T01:28:31Z</dcterms:created>
  <dcterms:modified xsi:type="dcterms:W3CDTF">2026-10-09T18:57:42Z</dcterms:modified>
</cp:coreProperties>
</file>